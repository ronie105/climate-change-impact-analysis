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4" r:id="rId9"/>
    <p:sldId id="265" r:id="rId10"/>
    <p:sldId id="263"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BCB2F-D143-4282-A8A6-78E1B4587D9B}" v="200" dt="2026-04-29T19:15:35.61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spTree>
      <p:nvGrpSpPr>
        <p:cNvPr id="1" name="Shape 84"/>
        <p:cNvGrpSpPr/>
        <p:nvPr/>
      </p:nvGrpSpPr>
      <p:grpSpPr>
        <a:xfrm>
          <a:off x="0" y="0"/>
          <a:ext cx="0" cy="0"/>
          <a:chOff x="0" y="0"/>
          <a:chExt cx="0" cy="0"/>
        </a:xfrm>
      </p:grpSpPr>
      <p:sp>
        <p:nvSpPr>
          <p:cNvPr id="85" name="Google Shape;85;p13"/>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 name="Google Shape;86;p13"/>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 name="Google Shape;87;p13"/>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 name="Google Shape;88;p13"/>
          <p:cNvSpPr>
            <a:spLocks noGrp="1"/>
          </p:cNvSpPr>
          <p:nvPr>
            <p:ph type="pic" idx="2"/>
          </p:nvPr>
        </p:nvSpPr>
        <p:spPr>
          <a:xfrm>
            <a:off x="1847850" y="2819400"/>
            <a:ext cx="8496300" cy="2800350"/>
          </a:xfrm>
          <a:prstGeom prst="rect">
            <a:avLst/>
          </a:prstGeom>
          <a:noFill/>
          <a:ln>
            <a:no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p:nvPr/>
        </p:nvSpPr>
        <p:spPr>
          <a:xfrm>
            <a:off x="0" y="5993600"/>
            <a:ext cx="11809200" cy="43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2F2F2"/>
              </a:solidFill>
              <a:latin typeface="Calibri"/>
              <a:ea typeface="Calibri"/>
              <a:cs typeface="Calibri"/>
              <a:sym typeface="Calibri"/>
            </a:endParaRPr>
          </a:p>
        </p:txBody>
      </p:sp>
      <p:sp>
        <p:nvSpPr>
          <p:cNvPr id="94" name="Google Shape;94;p14"/>
          <p:cNvSpPr/>
          <p:nvPr/>
        </p:nvSpPr>
        <p:spPr>
          <a:xfrm>
            <a:off x="302197" y="5901985"/>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4"/>
          <p:cNvSpPr txBox="1"/>
          <p:nvPr/>
        </p:nvSpPr>
        <p:spPr>
          <a:xfrm>
            <a:off x="8763000" y="65087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96" name="Google Shape;96;p14"/>
          <p:cNvSpPr/>
          <p:nvPr/>
        </p:nvSpPr>
        <p:spPr>
          <a:xfrm rot="10800000" flipH="1">
            <a:off x="9240357" y="5924086"/>
            <a:ext cx="1291800" cy="1157700"/>
          </a:xfrm>
          <a:prstGeom prst="rtTriangle">
            <a:avLst/>
          </a:prstGeom>
          <a:solidFill>
            <a:srgbClr val="F2F2F2">
              <a:alpha val="1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7" name="Google Shape;97;p14"/>
          <p:cNvSpPr/>
          <p:nvPr/>
        </p:nvSpPr>
        <p:spPr>
          <a:xfrm flipH="1">
            <a:off x="6778999" y="-80660"/>
            <a:ext cx="5146500" cy="5852400"/>
          </a:xfrm>
          <a:prstGeom prst="rtTriangle">
            <a:avLst/>
          </a:prstGeom>
          <a:solidFill>
            <a:srgbClr val="F2F2F2">
              <a:alpha val="1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8" name="Google Shape;98;p14"/>
          <p:cNvSpPr/>
          <p:nvPr/>
        </p:nvSpPr>
        <p:spPr>
          <a:xfrm>
            <a:off x="2410857" y="1693529"/>
            <a:ext cx="6829500" cy="2797200"/>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n-US" sz="2400" i="1" u="none" strike="noStrike" cap="none" dirty="0">
                <a:solidFill>
                  <a:srgbClr val="000000"/>
                </a:solidFill>
                <a:latin typeface="Times New Roman"/>
                <a:ea typeface="Times New Roman"/>
                <a:cs typeface="Times New Roman"/>
                <a:sym typeface="Times New Roman"/>
              </a:rPr>
              <a:t>Submitted in the partial fulfillment for the award of the degree of</a:t>
            </a:r>
            <a:endParaRPr dirty="0">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BACHELOR OF ENGINEERING </a:t>
            </a:r>
            <a:endParaRPr sz="2400" i="0" u="none" strike="noStrike" cap="none" dirty="0">
              <a:solidFill>
                <a:srgbClr val="00000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r>
              <a:rPr lang="en-US" sz="2400" i="1" u="none" strike="noStrike" cap="none" dirty="0">
                <a:solidFill>
                  <a:srgbClr val="000000"/>
                </a:solidFill>
                <a:latin typeface="Times New Roman"/>
                <a:ea typeface="Times New Roman"/>
                <a:cs typeface="Times New Roman"/>
                <a:sym typeface="Times New Roman"/>
              </a:rPr>
              <a:t> IN</a:t>
            </a:r>
            <a:endParaRPr dirty="0">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r>
              <a:rPr lang="en-US" sz="2400" b="1" dirty="0">
                <a:latin typeface="Times New Roman"/>
                <a:ea typeface="Times New Roman"/>
                <a:cs typeface="Times New Roman"/>
                <a:sym typeface="Times New Roman"/>
              </a:rPr>
              <a:t>COMPUTER SCIENCE WITH SPECIALIZATION IN BIG DATA ANALYTICS</a:t>
            </a:r>
            <a:endParaRPr sz="2400" i="0" u="none" strike="noStrike" cap="none" dirty="0">
              <a:solidFill>
                <a:srgbClr val="000000"/>
              </a:solidFill>
              <a:latin typeface="Times New Roman"/>
              <a:ea typeface="Times New Roman"/>
              <a:cs typeface="Times New Roman"/>
              <a:sym typeface="Times New Roman"/>
            </a:endParaRPr>
          </a:p>
        </p:txBody>
      </p:sp>
      <p:sp>
        <p:nvSpPr>
          <p:cNvPr id="99" name="Google Shape;99;p14"/>
          <p:cNvSpPr/>
          <p:nvPr/>
        </p:nvSpPr>
        <p:spPr>
          <a:xfrm flipH="1">
            <a:off x="9261020" y="5273674"/>
            <a:ext cx="2366700"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0" name="Google Shape;100;p14"/>
          <p:cNvSpPr txBox="1"/>
          <p:nvPr/>
        </p:nvSpPr>
        <p:spPr>
          <a:xfrm>
            <a:off x="6614859" y="6003860"/>
            <a:ext cx="49287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101" name="Google Shape;101;p14"/>
          <p:cNvSpPr/>
          <p:nvPr/>
        </p:nvSpPr>
        <p:spPr>
          <a:xfrm>
            <a:off x="6619280" y="6027946"/>
            <a:ext cx="45600" cy="3705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2" name="Google Shape;102;p14"/>
          <p:cNvSpPr txBox="1"/>
          <p:nvPr/>
        </p:nvSpPr>
        <p:spPr>
          <a:xfrm>
            <a:off x="177629" y="6312926"/>
            <a:ext cx="5882700" cy="42480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400" b="1" i="0" u="none" strike="noStrike" cap="none" dirty="0">
                <a:solidFill>
                  <a:srgbClr val="FF0000"/>
                </a:solidFill>
                <a:latin typeface="Times New Roman"/>
                <a:ea typeface="Times New Roman"/>
                <a:cs typeface="Times New Roman"/>
                <a:sym typeface="Times New Roman"/>
              </a:rPr>
              <a:t>Department of AIT-CSE</a:t>
            </a:r>
            <a:endParaRPr sz="1600" b="0" i="0" u="none" strike="noStrike" cap="none" dirty="0">
              <a:solidFill>
                <a:srgbClr val="FF0000"/>
              </a:solidFill>
              <a:latin typeface="Times New Roman"/>
              <a:ea typeface="Times New Roman"/>
              <a:cs typeface="Times New Roman"/>
              <a:sym typeface="Times New Roman"/>
            </a:endParaRPr>
          </a:p>
        </p:txBody>
      </p:sp>
      <p:sp>
        <p:nvSpPr>
          <p:cNvPr id="103" name="Google Shape;103;p14"/>
          <p:cNvSpPr txBox="1"/>
          <p:nvPr/>
        </p:nvSpPr>
        <p:spPr>
          <a:xfrm>
            <a:off x="568231" y="-163726"/>
            <a:ext cx="11623769" cy="1508065"/>
          </a:xfrm>
          <a:prstGeom prst="rect">
            <a:avLst/>
          </a:prstGeom>
          <a:noFill/>
          <a:ln>
            <a:noFill/>
          </a:ln>
        </p:spPr>
        <p:txBody>
          <a:bodyPr spcFirstLastPara="1" wrap="square" lIns="91425" tIns="45700" rIns="91425" bIns="45700" anchor="t" anchorCtr="0">
            <a:spAutoFit/>
          </a:bodyPr>
          <a:lstStyle/>
          <a:p>
            <a:endParaRPr lang="en-IN" dirty="0"/>
          </a:p>
          <a:p>
            <a:endParaRPr lang="en-IN" dirty="0"/>
          </a:p>
          <a:p>
            <a:pPr algn="ctr"/>
            <a:r>
              <a:rPr lang="en-US" sz="2800" dirty="0"/>
              <a:t> </a:t>
            </a:r>
            <a:r>
              <a:rPr lang="en-US" sz="3200" dirty="0"/>
              <a:t>Climate Change Impact Analysis Using Statistical Methods and Data Visualization</a:t>
            </a:r>
            <a:endParaRPr sz="3200" b="1" dirty="0">
              <a:solidFill>
                <a:schemeClr val="dk1"/>
              </a:solidFill>
              <a:latin typeface="Times New Roman"/>
              <a:ea typeface="Times New Roman"/>
              <a:cs typeface="Times New Roman"/>
              <a:sym typeface="Times New Roman"/>
            </a:endParaRPr>
          </a:p>
        </p:txBody>
      </p:sp>
      <p:sp>
        <p:nvSpPr>
          <p:cNvPr id="104" name="Google Shape;104;p14"/>
          <p:cNvSpPr txBox="1">
            <a:spLocks noGrp="1"/>
          </p:cNvSpPr>
          <p:nvPr>
            <p:ph type="sldNum" idx="12"/>
          </p:nvPr>
        </p:nvSpPr>
        <p:spPr>
          <a:xfrm>
            <a:off x="8579225" y="63984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5" name="Google Shape;105;p14"/>
          <p:cNvSpPr txBox="1"/>
          <p:nvPr/>
        </p:nvSpPr>
        <p:spPr>
          <a:xfrm>
            <a:off x="1395300" y="4963920"/>
            <a:ext cx="3010401" cy="20466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Submitted by: </a:t>
            </a:r>
            <a:endParaRPr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700" dirty="0">
                <a:solidFill>
                  <a:schemeClr val="dk1"/>
                </a:solidFill>
                <a:latin typeface="Times New Roman"/>
                <a:ea typeface="Times New Roman"/>
                <a:cs typeface="Times New Roman"/>
                <a:sym typeface="Times New Roman"/>
              </a:rPr>
              <a:t>Satyam Singh - 23BDA70056</a:t>
            </a:r>
          </a:p>
          <a:p>
            <a:pPr marL="0" lvl="0" indent="0" algn="l" rtl="0">
              <a:spcBef>
                <a:spcPts val="0"/>
              </a:spcBef>
              <a:spcAft>
                <a:spcPts val="0"/>
              </a:spcAft>
              <a:buClr>
                <a:schemeClr val="dk1"/>
              </a:buClr>
              <a:buSzPts val="1100"/>
              <a:buFont typeface="Arial"/>
              <a:buNone/>
            </a:pPr>
            <a:r>
              <a:rPr lang="en-US" sz="1700" dirty="0">
                <a:solidFill>
                  <a:schemeClr val="dk1"/>
                </a:solidFill>
                <a:latin typeface="Times New Roman"/>
                <a:ea typeface="Times New Roman"/>
                <a:cs typeface="Times New Roman"/>
                <a:sym typeface="Times New Roman"/>
              </a:rPr>
              <a:t> Royal singh rana-23BDA70059 </a:t>
            </a:r>
            <a:endParaRPr sz="17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700" dirty="0">
                <a:solidFill>
                  <a:schemeClr val="dk1"/>
                </a:solidFill>
                <a:latin typeface="Times New Roman"/>
                <a:ea typeface="Times New Roman"/>
                <a:cs typeface="Times New Roman"/>
                <a:sym typeface="Times New Roman"/>
              </a:rPr>
              <a:t>Ranbir Saini - 23BDA70105</a:t>
            </a:r>
          </a:p>
          <a:p>
            <a:pPr marL="0" lvl="0" indent="0" algn="l" rtl="0">
              <a:spcBef>
                <a:spcPts val="0"/>
              </a:spcBef>
              <a:spcAft>
                <a:spcPts val="0"/>
              </a:spcAft>
              <a:buClr>
                <a:schemeClr val="dk1"/>
              </a:buClr>
              <a:buSzPts val="1100"/>
              <a:buFont typeface="Arial"/>
              <a:buNone/>
            </a:pPr>
            <a:r>
              <a:rPr lang="en-US" sz="1700" dirty="0">
                <a:solidFill>
                  <a:schemeClr val="dk1"/>
                </a:solidFill>
                <a:latin typeface="Times New Roman"/>
                <a:ea typeface="Times New Roman"/>
                <a:cs typeface="Times New Roman"/>
                <a:sym typeface="Times New Roman"/>
              </a:rPr>
              <a:t>Anish Sharma – 23BDA70027</a:t>
            </a:r>
            <a:endParaRPr sz="16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sp>
        <p:nvSpPr>
          <p:cNvPr id="106" name="Google Shape;106;p14"/>
          <p:cNvSpPr txBox="1"/>
          <p:nvPr/>
        </p:nvSpPr>
        <p:spPr>
          <a:xfrm>
            <a:off x="7219410" y="4963920"/>
            <a:ext cx="2909100"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Under the Supervision of: </a:t>
            </a:r>
            <a:r>
              <a:rPr lang="en-US" sz="2000" dirty="0" err="1">
                <a:solidFill>
                  <a:schemeClr val="dk1"/>
                </a:solidFill>
                <a:latin typeface="Times New Roman"/>
                <a:ea typeface="Times New Roman"/>
                <a:cs typeface="Times New Roman"/>
                <a:sym typeface="Times New Roman"/>
              </a:rPr>
              <a:t>Mrs.Monica</a:t>
            </a:r>
            <a:r>
              <a:rPr lang="en-US" sz="2000" dirty="0">
                <a:solidFill>
                  <a:schemeClr val="dk1"/>
                </a:solidFill>
                <a:latin typeface="Times New Roman"/>
                <a:ea typeface="Times New Roman"/>
                <a:cs typeface="Times New Roman"/>
                <a:sym typeface="Times New Roman"/>
              </a:rPr>
              <a:t> Luthra </a:t>
            </a:r>
            <a:endParaRPr dirty="0">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885676" y="365126"/>
            <a:ext cx="10515600" cy="9762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Outline</a:t>
            </a:r>
            <a:endParaRPr/>
          </a:p>
        </p:txBody>
      </p:sp>
      <p:sp>
        <p:nvSpPr>
          <p:cNvPr id="112" name="Google Shape;112;p15"/>
          <p:cNvSpPr txBox="1">
            <a:spLocks noGrp="1"/>
          </p:cNvSpPr>
          <p:nvPr>
            <p:ph type="body" idx="1"/>
          </p:nvPr>
        </p:nvSpPr>
        <p:spPr>
          <a:xfrm>
            <a:off x="838200" y="1588220"/>
            <a:ext cx="10515600" cy="495225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latin typeface="Times New Roman"/>
                <a:ea typeface="Times New Roman"/>
                <a:cs typeface="Times New Roman"/>
                <a:sym typeface="Times New Roman"/>
              </a:rPr>
              <a:t>Introduction to Project</a:t>
            </a:r>
            <a:endParaRPr dirty="0"/>
          </a:p>
          <a:p>
            <a:pPr marL="228600" lvl="0" indent="-228600" algn="l" rtl="0">
              <a:lnSpc>
                <a:spcPct val="90000"/>
              </a:lnSpc>
              <a:spcBef>
                <a:spcPts val="1000"/>
              </a:spcBef>
              <a:spcAft>
                <a:spcPts val="0"/>
              </a:spcAft>
              <a:buClr>
                <a:schemeClr val="dk1"/>
              </a:buClr>
              <a:buSzPts val="2800"/>
              <a:buChar char="•"/>
            </a:pPr>
            <a:r>
              <a:rPr lang="en-US" dirty="0">
                <a:latin typeface="Times New Roman"/>
                <a:ea typeface="Times New Roman"/>
                <a:cs typeface="Times New Roman"/>
                <a:sym typeface="Times New Roman"/>
              </a:rPr>
              <a:t>Problem Formulation</a:t>
            </a:r>
            <a:endParaRPr dirty="0"/>
          </a:p>
          <a:p>
            <a:pPr marL="228600" lvl="0" indent="-228600" algn="l" rtl="0">
              <a:lnSpc>
                <a:spcPct val="90000"/>
              </a:lnSpc>
              <a:spcBef>
                <a:spcPts val="1000"/>
              </a:spcBef>
              <a:spcAft>
                <a:spcPts val="0"/>
              </a:spcAft>
              <a:buClr>
                <a:schemeClr val="dk1"/>
              </a:buClr>
              <a:buSzPts val="2800"/>
              <a:buChar char="•"/>
            </a:pPr>
            <a:r>
              <a:rPr lang="en-US" dirty="0">
                <a:latin typeface="Times New Roman"/>
                <a:ea typeface="Times New Roman"/>
                <a:cs typeface="Times New Roman"/>
                <a:sym typeface="Times New Roman"/>
              </a:rPr>
              <a:t>Objectives of the work </a:t>
            </a:r>
            <a:endParaRPr dirty="0"/>
          </a:p>
          <a:p>
            <a:pPr marL="228600" lvl="0" indent="-228600" algn="l" rtl="0">
              <a:lnSpc>
                <a:spcPct val="90000"/>
              </a:lnSpc>
              <a:spcBef>
                <a:spcPts val="1000"/>
              </a:spcBef>
              <a:spcAft>
                <a:spcPts val="0"/>
              </a:spcAft>
              <a:buClr>
                <a:schemeClr val="dk1"/>
              </a:buClr>
              <a:buSzPts val="2800"/>
              <a:buChar char="•"/>
            </a:pPr>
            <a:r>
              <a:rPr lang="en-US" dirty="0">
                <a:latin typeface="Times New Roman"/>
                <a:ea typeface="Times New Roman"/>
                <a:cs typeface="Times New Roman"/>
                <a:sym typeface="Times New Roman"/>
              </a:rPr>
              <a:t>Methodology used</a:t>
            </a:r>
          </a:p>
          <a:p>
            <a:pPr marL="228600" lvl="0" indent="-228600" algn="l" rtl="0">
              <a:lnSpc>
                <a:spcPct val="90000"/>
              </a:lnSpc>
              <a:spcBef>
                <a:spcPts val="1000"/>
              </a:spcBef>
              <a:spcAft>
                <a:spcPts val="0"/>
              </a:spcAft>
              <a:buClr>
                <a:schemeClr val="dk1"/>
              </a:buClr>
              <a:buSzPts val="2800"/>
              <a:buChar char="•"/>
            </a:pPr>
            <a:r>
              <a:rPr lang="en-US" dirty="0">
                <a:latin typeface="Times New Roman"/>
                <a:cs typeface="Times New Roman"/>
                <a:sym typeface="Times New Roman"/>
              </a:rPr>
              <a:t>4 phases of project</a:t>
            </a:r>
            <a:endParaRPr dirty="0"/>
          </a:p>
          <a:p>
            <a:pPr marL="228600" lvl="0" indent="-228600" algn="l" rtl="0">
              <a:lnSpc>
                <a:spcPct val="90000"/>
              </a:lnSpc>
              <a:spcBef>
                <a:spcPts val="1000"/>
              </a:spcBef>
              <a:spcAft>
                <a:spcPts val="0"/>
              </a:spcAft>
              <a:buClr>
                <a:schemeClr val="dk1"/>
              </a:buClr>
              <a:buSzPts val="2800"/>
              <a:buChar char="•"/>
            </a:pPr>
            <a:r>
              <a:rPr lang="en-US" dirty="0">
                <a:latin typeface="Times New Roman"/>
                <a:ea typeface="Times New Roman"/>
                <a:cs typeface="Times New Roman"/>
                <a:sym typeface="Times New Roman"/>
              </a:rPr>
              <a:t>Results and Outputs</a:t>
            </a:r>
            <a:endParaRPr dirty="0"/>
          </a:p>
          <a:p>
            <a:pPr marL="228600" indent="-228600">
              <a:buSzPts val="2800"/>
            </a:pPr>
            <a:r>
              <a:rPr lang="en-US" dirty="0">
                <a:latin typeface="Times New Roman"/>
                <a:ea typeface="Times New Roman"/>
                <a:cs typeface="Times New Roman"/>
                <a:sym typeface="Times New Roman"/>
              </a:rPr>
              <a:t>Future Scope</a:t>
            </a:r>
          </a:p>
          <a:p>
            <a:pPr marL="228600" lvl="0" indent="-228600" algn="l" rtl="0">
              <a:lnSpc>
                <a:spcPct val="90000"/>
              </a:lnSpc>
              <a:spcBef>
                <a:spcPts val="1000"/>
              </a:spcBef>
              <a:spcAft>
                <a:spcPts val="0"/>
              </a:spcAft>
              <a:buClr>
                <a:schemeClr val="dk1"/>
              </a:buClr>
              <a:buSzPts val="2800"/>
              <a:buChar char="•"/>
            </a:pPr>
            <a:r>
              <a:rPr lang="en-US" dirty="0">
                <a:latin typeface="Times New Roman"/>
                <a:ea typeface="Times New Roman"/>
                <a:cs typeface="Times New Roman"/>
                <a:sym typeface="Times New Roman"/>
              </a:rPr>
              <a:t>Conclusion</a:t>
            </a:r>
            <a:endParaRPr dirty="0"/>
          </a:p>
          <a:p>
            <a:pPr marL="0" lvl="0" indent="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113" name="Google Shape;11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712850" y="3901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Introduction to Project</a:t>
            </a:r>
            <a:endParaRPr dirty="0">
              <a:latin typeface="Times New Roman"/>
              <a:ea typeface="Times New Roman"/>
              <a:cs typeface="Times New Roman"/>
              <a:sym typeface="Times New Roman"/>
            </a:endParaRPr>
          </a:p>
        </p:txBody>
      </p:sp>
      <p:sp>
        <p:nvSpPr>
          <p:cNvPr id="119" name="Google Shape;119;p16"/>
          <p:cNvSpPr txBox="1">
            <a:spLocks noGrp="1"/>
          </p:cNvSpPr>
          <p:nvPr>
            <p:ph type="body" idx="1"/>
          </p:nvPr>
        </p:nvSpPr>
        <p:spPr>
          <a:xfrm>
            <a:off x="541000" y="1456450"/>
            <a:ext cx="11367300" cy="5265000"/>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b="1" dirty="0"/>
              <a:t>The Challenge:</a:t>
            </a:r>
          </a:p>
          <a:p>
            <a:pPr marL="114300" indent="0">
              <a:buNone/>
            </a:pPr>
            <a:r>
              <a:rPr lang="en-US" sz="2000" dirty="0"/>
              <a:t>Climate change is causing irregular rainfall, temperature fluctuations, and extreme weather conditions. These changes affect agriculture, water resources, and the environment. Large climate datasets are difficult to analyze manually, so proper statistical methods are needed to identify long-term patterns and trends.</a:t>
            </a:r>
          </a:p>
          <a:p>
            <a:pPr marL="114300" indent="0">
              <a:buNone/>
            </a:pPr>
            <a:r>
              <a:rPr lang="en-US" b="1" dirty="0"/>
              <a:t>The Solution:</a:t>
            </a:r>
          </a:p>
          <a:p>
            <a:pPr marL="114300" indent="0">
              <a:buNone/>
            </a:pPr>
            <a:r>
              <a:rPr lang="en-US" sz="2000" dirty="0"/>
              <a:t>This project uses 35 years (1990–2024) of NASA POWER climate data for Punjab region. Using Python libraries such as Pandas, NumPy, Matplotlib, and Seaborn, the data is cleaned, analyzed, and visualized. Statistical techniques like regression analysis and correlation help identify temperature and rainfall trends.</a:t>
            </a:r>
          </a:p>
          <a:p>
            <a:pPr marL="114300" indent="0">
              <a:buNone/>
            </a:pPr>
            <a:r>
              <a:rPr lang="en-US" b="1" dirty="0"/>
              <a:t>Target Audience &amp; Need:</a:t>
            </a:r>
          </a:p>
          <a:p>
            <a:r>
              <a:rPr lang="en-US" sz="2000" b="1" dirty="0"/>
              <a:t>Farmer - </a:t>
            </a:r>
            <a:r>
              <a:rPr lang="en-US" sz="2000" dirty="0"/>
              <a:t>crop planning and irrigation decisions </a:t>
            </a:r>
          </a:p>
          <a:p>
            <a:r>
              <a:rPr lang="en-US" sz="2000" b="1" dirty="0"/>
              <a:t>Researchers</a:t>
            </a:r>
            <a:r>
              <a:rPr lang="en-US" sz="2000" dirty="0"/>
              <a:t> – </a:t>
            </a:r>
            <a:r>
              <a:rPr lang="en-IN" sz="2000" dirty="0"/>
              <a:t>climate trend studies</a:t>
            </a:r>
            <a:endParaRPr lang="en-US" sz="2000" dirty="0"/>
          </a:p>
          <a:p>
            <a:r>
              <a:rPr lang="en-US" sz="2000" b="1" dirty="0"/>
              <a:t>Students</a:t>
            </a:r>
            <a:r>
              <a:rPr lang="en-US" sz="2000" dirty="0"/>
              <a:t> – data science learning and analysis</a:t>
            </a:r>
          </a:p>
          <a:p>
            <a:r>
              <a:rPr lang="en-US" sz="2000" b="1" dirty="0"/>
              <a:t>Government</a:t>
            </a:r>
            <a:r>
              <a:rPr lang="en-US" sz="2000" dirty="0"/>
              <a:t> – policy making and disaster management</a:t>
            </a:r>
          </a:p>
        </p:txBody>
      </p:sp>
      <p:sp>
        <p:nvSpPr>
          <p:cNvPr id="120" name="Google Shape;120;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838200" y="1"/>
            <a:ext cx="10515600" cy="10249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Problem Formulation</a:t>
            </a:r>
            <a:endParaRPr dirty="0">
              <a:latin typeface="Times New Roman"/>
              <a:ea typeface="Times New Roman"/>
              <a:cs typeface="Times New Roman"/>
              <a:sym typeface="Times New Roman"/>
            </a:endParaRPr>
          </a:p>
        </p:txBody>
      </p:sp>
      <p:sp>
        <p:nvSpPr>
          <p:cNvPr id="126" name="Google Shape;126;p17"/>
          <p:cNvSpPr txBox="1">
            <a:spLocks noGrp="1"/>
          </p:cNvSpPr>
          <p:nvPr>
            <p:ph type="body" idx="1"/>
          </p:nvPr>
        </p:nvSpPr>
        <p:spPr>
          <a:xfrm>
            <a:off x="674474" y="822961"/>
            <a:ext cx="11161926" cy="5878194"/>
          </a:xfrm>
          <a:prstGeom prst="rect">
            <a:avLst/>
          </a:prstGeom>
          <a:noFill/>
          <a:ln>
            <a:noFill/>
          </a:ln>
        </p:spPr>
        <p:txBody>
          <a:bodyPr spcFirstLastPara="1" wrap="square" lIns="91425" tIns="45700" rIns="91425" bIns="45700" anchor="t" anchorCtr="0">
            <a:normAutofit/>
          </a:bodyPr>
          <a:lstStyle/>
          <a:p>
            <a:pPr marL="114300" indent="0">
              <a:buNone/>
            </a:pPr>
            <a:r>
              <a:rPr lang="en-US" b="1" dirty="0"/>
              <a:t>Existing Issues:</a:t>
            </a:r>
          </a:p>
          <a:p>
            <a:pPr>
              <a:buFont typeface="Arial" panose="020B0604020202020204" pitchFamily="34" charset="0"/>
              <a:buChar char="•"/>
            </a:pPr>
            <a:r>
              <a:rPr lang="en-US" sz="2000" b="1" dirty="0"/>
              <a:t> </a:t>
            </a:r>
            <a:r>
              <a:rPr lang="en-IN" sz="2000" dirty="0"/>
              <a:t>Irregular rainfall patterns</a:t>
            </a:r>
          </a:p>
          <a:p>
            <a:pPr>
              <a:buFont typeface="Arial" panose="020B0604020202020204" pitchFamily="34" charset="0"/>
              <a:buChar char="•"/>
            </a:pPr>
            <a:r>
              <a:rPr lang="en-IN" sz="2000" dirty="0"/>
              <a:t> Temperature fluctuations over years</a:t>
            </a:r>
          </a:p>
          <a:p>
            <a:pPr>
              <a:buFont typeface="Arial" panose="020B0604020202020204" pitchFamily="34" charset="0"/>
              <a:buChar char="•"/>
            </a:pPr>
            <a:r>
              <a:rPr lang="en-IN" sz="2000" dirty="0"/>
              <a:t> Extreme weather conditions increasing</a:t>
            </a:r>
          </a:p>
          <a:p>
            <a:pPr>
              <a:buFont typeface="Arial" panose="020B0604020202020204" pitchFamily="34" charset="0"/>
              <a:buChar char="•"/>
            </a:pPr>
            <a:r>
              <a:rPr lang="en-US" sz="2000" dirty="0"/>
              <a:t>Lack of local climate analysis</a:t>
            </a:r>
            <a:endParaRPr lang="en-US" sz="2000" b="1" dirty="0"/>
          </a:p>
          <a:p>
            <a:pPr marL="114300" indent="0">
              <a:buNone/>
            </a:pPr>
            <a:r>
              <a:rPr lang="en-US" b="1" dirty="0"/>
              <a:t>Limitations of Current Methods:</a:t>
            </a:r>
          </a:p>
          <a:p>
            <a:pPr>
              <a:buFont typeface="Arial" panose="020B0604020202020204" pitchFamily="34" charset="0"/>
              <a:buChar char="•"/>
            </a:pPr>
            <a:r>
              <a:rPr lang="en-IN" sz="2000" dirty="0"/>
              <a:t>Manual analysis is time-consuming</a:t>
            </a: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t>Difficult to study large climate datasets</a:t>
            </a: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t>Less visualization of climate patterns</a:t>
            </a:r>
          </a:p>
          <a:p>
            <a:pPr>
              <a:buFont typeface="Arial" panose="020B0604020202020204" pitchFamily="34" charset="0"/>
              <a:buChar char="•"/>
            </a:pPr>
            <a:r>
              <a:rPr lang="en-US" sz="2000" dirty="0"/>
              <a:t>Hard to identify long-term trends accurately</a:t>
            </a:r>
          </a:p>
          <a:p>
            <a:pPr marL="114300" indent="0">
              <a:buNone/>
            </a:pPr>
            <a:r>
              <a:rPr lang="en-US" b="1" dirty="0"/>
              <a:t>Research Goal:</a:t>
            </a:r>
          </a:p>
          <a:p>
            <a:pPr marL="114300" indent="0">
              <a:buNone/>
            </a:pPr>
            <a:r>
              <a:rPr lang="en-US" sz="2000" dirty="0"/>
              <a:t>To analyze 35 years climate data using statistical methods and data visualization to identify temperature, rainfall, and environmental trends in Punjab region.</a:t>
            </a:r>
          </a:p>
        </p:txBody>
      </p:sp>
      <p:sp>
        <p:nvSpPr>
          <p:cNvPr id="127" name="Google Shape;12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4" name="Rectangle 3">
            <a:extLst>
              <a:ext uri="{FF2B5EF4-FFF2-40B4-BE49-F238E27FC236}">
                <a16:creationId xmlns:a16="http://schemas.microsoft.com/office/drawing/2014/main" id="{2B0E1A3D-69FC-F579-4DB2-BCC97D8169B3}"/>
              </a:ext>
            </a:extLst>
          </p:cNvPr>
          <p:cNvSpPr>
            <a:spLocks noChangeArrowheads="1"/>
          </p:cNvSpPr>
          <p:nvPr/>
        </p:nvSpPr>
        <p:spPr bwMode="auto">
          <a:xfrm>
            <a:off x="0" y="-1846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Objectives of the Work</a:t>
            </a:r>
            <a:endParaRPr dirty="0">
              <a:latin typeface="Times New Roman"/>
              <a:ea typeface="Times New Roman"/>
              <a:cs typeface="Times New Roman"/>
              <a:sym typeface="Times New Roman"/>
            </a:endParaRPr>
          </a:p>
        </p:txBody>
      </p:sp>
      <p:sp>
        <p:nvSpPr>
          <p:cNvPr id="133" name="Google Shape;133;p18"/>
          <p:cNvSpPr txBox="1">
            <a:spLocks noGrp="1"/>
          </p:cNvSpPr>
          <p:nvPr>
            <p:ph type="body" idx="1"/>
          </p:nvPr>
        </p:nvSpPr>
        <p:spPr>
          <a:xfrm>
            <a:off x="614950" y="1587500"/>
            <a:ext cx="10515600" cy="4351200"/>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US" b="1" dirty="0"/>
              <a:t>Primary Goal:</a:t>
            </a:r>
          </a:p>
          <a:p>
            <a:r>
              <a:rPr lang="en-US" sz="2400" dirty="0"/>
              <a:t>To analyze climate change patterns using statistical methods and data visualization for better environmental understanding.</a:t>
            </a:r>
            <a:endParaRPr lang="en-US" sz="2600" b="1" dirty="0"/>
          </a:p>
          <a:p>
            <a:pPr marL="114300" indent="0">
              <a:buNone/>
            </a:pPr>
            <a:r>
              <a:rPr lang="en-US" b="1" dirty="0"/>
              <a:t>Key Tasks:</a:t>
            </a:r>
          </a:p>
          <a:p>
            <a:r>
              <a:rPr lang="en-IN" sz="2400" dirty="0"/>
              <a:t>Collect 35 years climate dataset </a:t>
            </a:r>
          </a:p>
          <a:p>
            <a:r>
              <a:rPr lang="en-IN" sz="2400" dirty="0"/>
              <a:t>Clean and preprocess data </a:t>
            </a:r>
          </a:p>
          <a:p>
            <a:r>
              <a:rPr lang="en-IN" sz="2400" dirty="0"/>
              <a:t>Analyze rainfall trend </a:t>
            </a:r>
          </a:p>
          <a:p>
            <a:r>
              <a:rPr lang="en-IN" sz="2400" dirty="0"/>
              <a:t>Analyze temperature trend </a:t>
            </a:r>
          </a:p>
          <a:p>
            <a:r>
              <a:rPr lang="en-IN" sz="2400" dirty="0"/>
              <a:t>Create graphs and charts </a:t>
            </a:r>
          </a:p>
          <a:p>
            <a:r>
              <a:rPr lang="en-US" sz="2400" dirty="0"/>
              <a:t>Compare yearly and seasonal changes</a:t>
            </a:r>
            <a:r>
              <a:rPr lang="en-IN" sz="2400" dirty="0"/>
              <a:t> </a:t>
            </a:r>
          </a:p>
          <a:p>
            <a:r>
              <a:rPr lang="en-IN" sz="2400" dirty="0"/>
              <a:t>Analyze performance differences and model </a:t>
            </a:r>
            <a:r>
              <a:rPr lang="en-IN" sz="2400" dirty="0" err="1"/>
              <a:t>behavior</a:t>
            </a:r>
            <a:r>
              <a:rPr lang="en-IN" sz="2400" dirty="0"/>
              <a:t> </a:t>
            </a:r>
          </a:p>
        </p:txBody>
      </p:sp>
      <p:sp>
        <p:nvSpPr>
          <p:cNvPr id="134" name="Google Shape;13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63600" y="18466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Methodology used</a:t>
            </a:r>
            <a:endParaRPr dirty="0">
              <a:latin typeface="Times New Roman"/>
              <a:ea typeface="Times New Roman"/>
              <a:cs typeface="Times New Roman"/>
              <a:sym typeface="Times New Roman"/>
            </a:endParaRPr>
          </a:p>
        </p:txBody>
      </p:sp>
      <p:sp>
        <p:nvSpPr>
          <p:cNvPr id="140" name="Google Shape;140;p19"/>
          <p:cNvSpPr txBox="1">
            <a:spLocks noGrp="1"/>
          </p:cNvSpPr>
          <p:nvPr>
            <p:ph type="body" idx="1"/>
          </p:nvPr>
        </p:nvSpPr>
        <p:spPr>
          <a:xfrm>
            <a:off x="746760" y="1472818"/>
            <a:ext cx="11000740" cy="5385181"/>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US" sz="3100" b="1" dirty="0"/>
              <a:t>Workflow Phases</a:t>
            </a:r>
          </a:p>
          <a:p>
            <a:pPr marL="114300" indent="0">
              <a:buNone/>
            </a:pPr>
            <a:r>
              <a:rPr lang="en-US" sz="3100" b="1" dirty="0"/>
              <a:t>Phase 1: </a:t>
            </a:r>
            <a:r>
              <a:rPr lang="en-IN" b="1" dirty="0"/>
              <a:t>Problem Identification</a:t>
            </a:r>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Identify </a:t>
            </a:r>
            <a:r>
              <a:rPr lang="en-IN" sz="2400" dirty="0"/>
              <a:t>project problem</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r>
              <a:rPr lang="en-IN" sz="2400" dirty="0"/>
              <a:t>Find suitable solution</a:t>
            </a:r>
            <a:endPar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114300" indent="0">
              <a:buNone/>
            </a:pPr>
            <a:r>
              <a:rPr lang="en-US" b="1" dirty="0"/>
              <a:t>Phase 2: Data Collection and Analysis</a:t>
            </a:r>
          </a:p>
          <a:p>
            <a:r>
              <a:rPr lang="en-IN" sz="2400" dirty="0"/>
              <a:t>Collect required dataset</a:t>
            </a:r>
          </a:p>
          <a:p>
            <a:r>
              <a:rPr lang="en-IN" sz="2400" dirty="0"/>
              <a:t>Analyze data</a:t>
            </a:r>
          </a:p>
          <a:p>
            <a:r>
              <a:rPr lang="en-IN" sz="2400" dirty="0"/>
              <a:t>Generate insights from data</a:t>
            </a:r>
            <a:endPar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114300" indent="0">
              <a:buNone/>
            </a:pPr>
            <a:r>
              <a:rPr lang="en-US" b="1" dirty="0"/>
              <a:t>Phase 3: Data Preprocessing</a:t>
            </a:r>
          </a:p>
          <a:p>
            <a:r>
              <a:rPr lang="en-IN" sz="2400" dirty="0"/>
              <a:t>Start research paper writing</a:t>
            </a:r>
          </a:p>
          <a:p>
            <a:r>
              <a:rPr lang="en-US" sz="2400" dirty="0"/>
              <a:t>Reading and reviewing</a:t>
            </a:r>
          </a:p>
          <a:p>
            <a:pPr marL="114300" indent="0">
              <a:buNone/>
            </a:pPr>
            <a:r>
              <a:rPr lang="en-US" b="1" dirty="0"/>
              <a:t>Phase 4: Result presentation</a:t>
            </a:r>
          </a:p>
          <a:p>
            <a:pPr>
              <a:buFont typeface="Arial" panose="020B0604020202020204" pitchFamily="34" charset="0"/>
              <a:buChar char="•"/>
            </a:pPr>
            <a:r>
              <a:rPr lang="en-IN" sz="2400" dirty="0"/>
              <a:t>Show final results.</a:t>
            </a:r>
          </a:p>
          <a:p>
            <a:pPr>
              <a:buFont typeface="Arial" panose="020B0604020202020204" pitchFamily="34" charset="0"/>
              <a:buChar char="•"/>
            </a:pPr>
            <a:r>
              <a:rPr lang="en-IN" sz="2400" dirty="0"/>
              <a:t>Draw conclusion </a:t>
            </a:r>
            <a:endParaRPr lang="en-US" sz="3800" dirty="0"/>
          </a:p>
          <a:p>
            <a:pPr marL="114300" indent="0">
              <a:buNone/>
            </a:pPr>
            <a:endParaRPr lang="en-US" b="1" dirty="0"/>
          </a:p>
          <a:p>
            <a:pPr marL="114300" indent="0">
              <a:buNone/>
            </a:pPr>
            <a:endParaRPr lang="en-US" b="1" dirty="0"/>
          </a:p>
          <a:p>
            <a:endParaRPr lang="en-US" sz="2400" dirty="0"/>
          </a:p>
          <a:p>
            <a:endParaRPr lang="en-US" sz="2400" dirty="0"/>
          </a:p>
        </p:txBody>
      </p:sp>
      <p:sp>
        <p:nvSpPr>
          <p:cNvPr id="141" name="Google Shape;14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Rectangle 3">
            <a:extLst>
              <a:ext uri="{FF2B5EF4-FFF2-40B4-BE49-F238E27FC236}">
                <a16:creationId xmlns:a16="http://schemas.microsoft.com/office/drawing/2014/main" id="{EAA534BB-4D4C-CBD3-3FBA-DAB3C6654FED}"/>
              </a:ext>
            </a:extLst>
          </p:cNvPr>
          <p:cNvSpPr>
            <a:spLocks noChangeArrowheads="1"/>
          </p:cNvSpPr>
          <p:nvPr/>
        </p:nvSpPr>
        <p:spPr bwMode="auto">
          <a:xfrm>
            <a:off x="0"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6CAF76F8-06DF-D9A5-AEEC-8895235D3B5A}"/>
              </a:ext>
            </a:extLst>
          </p:cNvPr>
          <p:cNvSpPr>
            <a:spLocks noChangeArrowheads="1"/>
          </p:cNvSpPr>
          <p:nvPr/>
        </p:nvSpPr>
        <p:spPr bwMode="auto">
          <a:xfrm>
            <a:off x="492760" y="-34393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0"/>
          <p:cNvSpPr txBox="1">
            <a:spLocks noGrp="1"/>
          </p:cNvSpPr>
          <p:nvPr>
            <p:ph type="title"/>
          </p:nvPr>
        </p:nvSpPr>
        <p:spPr>
          <a:xfrm>
            <a:off x="838200" y="365125"/>
            <a:ext cx="10515600" cy="6236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Results and Outputs</a:t>
            </a:r>
            <a:endParaRPr dirty="0">
              <a:latin typeface="Times New Roman"/>
              <a:ea typeface="Times New Roman"/>
              <a:cs typeface="Times New Roman"/>
              <a:sym typeface="Times New Roman"/>
            </a:endParaRPr>
          </a:p>
        </p:txBody>
      </p:sp>
      <p:sp>
        <p:nvSpPr>
          <p:cNvPr id="148" name="Google Shape;14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7" name="Rectangle 3">
            <a:extLst>
              <a:ext uri="{FF2B5EF4-FFF2-40B4-BE49-F238E27FC236}">
                <a16:creationId xmlns:a16="http://schemas.microsoft.com/office/drawing/2014/main" id="{DA496A2E-6151-FD50-94E3-599B11DDA346}"/>
              </a:ext>
            </a:extLst>
          </p:cNvPr>
          <p:cNvSpPr>
            <a:spLocks noGrp="1" noChangeArrowheads="1"/>
          </p:cNvSpPr>
          <p:nvPr>
            <p:ph type="body" idx="1"/>
          </p:nvPr>
        </p:nvSpPr>
        <p:spPr bwMode="auto">
          <a:xfrm>
            <a:off x="838200" y="3196339"/>
            <a:ext cx="105156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IN" sz="2400" b="1" dirty="0"/>
              <a:t>Sample Output</a:t>
            </a:r>
          </a:p>
          <a:p>
            <a:pPr marL="342900" eaLnBrk="0" fontAlgn="base" hangingPunct="0">
              <a:lnSpc>
                <a:spcPct val="100000"/>
              </a:lnSpc>
              <a:spcBef>
                <a:spcPct val="0"/>
              </a:spcBef>
              <a:spcAft>
                <a:spcPct val="0"/>
              </a:spcAft>
              <a:buClrTx/>
              <a:buSzTx/>
            </a:pPr>
            <a:r>
              <a:rPr lang="en-IN" sz="2200" dirty="0">
                <a:latin typeface="+mn-lt"/>
              </a:rPr>
              <a:t>Trend analysis completed</a:t>
            </a:r>
          </a:p>
          <a:p>
            <a:pPr marL="342900" eaLnBrk="0" fontAlgn="base" hangingPunct="0">
              <a:lnSpc>
                <a:spcPct val="100000"/>
              </a:lnSpc>
              <a:spcBef>
                <a:spcPct val="0"/>
              </a:spcBef>
              <a:spcAft>
                <a:spcPct val="0"/>
              </a:spcAft>
              <a:buClrTx/>
              <a:buSzTx/>
            </a:pPr>
            <a:r>
              <a:rPr lang="en-IN" sz="2200" dirty="0">
                <a:latin typeface="+mn-lt"/>
              </a:rPr>
              <a:t>Seasonal comparison done</a:t>
            </a:r>
            <a:r>
              <a:rPr lang="en-IN" sz="2200" b="1" dirty="0">
                <a:latin typeface="+mn-lt"/>
              </a:rPr>
              <a:t> </a:t>
            </a:r>
          </a:p>
          <a:p>
            <a:pPr marL="342900" eaLnBrk="0" fontAlgn="base" hangingPunct="0">
              <a:lnSpc>
                <a:spcPct val="100000"/>
              </a:lnSpc>
              <a:spcBef>
                <a:spcPct val="0"/>
              </a:spcBef>
              <a:spcAft>
                <a:spcPct val="0"/>
              </a:spcAft>
              <a:buClrTx/>
              <a:buSzTx/>
            </a:pPr>
            <a:r>
              <a:rPr lang="en-IN" sz="2200" dirty="0">
                <a:latin typeface="+mn-lt"/>
              </a:rPr>
              <a:t>Seasonal comparison done</a:t>
            </a:r>
            <a:endParaRPr lang="en-IN" sz="2200" b="1" dirty="0">
              <a:latin typeface="+mn-lt"/>
            </a:endParaRPr>
          </a:p>
          <a:p>
            <a:pPr marL="342900" eaLnBrk="0" fontAlgn="base" hangingPunct="0">
              <a:lnSpc>
                <a:spcPct val="100000"/>
              </a:lnSpc>
              <a:spcBef>
                <a:spcPct val="0"/>
              </a:spcBef>
              <a:spcAft>
                <a:spcPct val="0"/>
              </a:spcAft>
              <a:buClrTx/>
              <a:buSzTx/>
            </a:pPr>
            <a:r>
              <a:rPr lang="en-IN" sz="2200" dirty="0">
                <a:latin typeface="+mn-lt"/>
              </a:rPr>
              <a:t>Final report prepared</a:t>
            </a:r>
            <a:endParaRPr lang="en-IN" sz="2200" b="1" dirty="0">
              <a:latin typeface="+mn-lt"/>
            </a:endParaRPr>
          </a:p>
          <a:p>
            <a:pPr marL="285750" indent="-285750" eaLnBrk="0" fontAlgn="base" hangingPunct="0">
              <a:lnSpc>
                <a:spcPct val="100000"/>
              </a:lnSpc>
              <a:spcBef>
                <a:spcPct val="0"/>
              </a:spcBef>
              <a:spcAft>
                <a:spcPct val="0"/>
              </a:spcAft>
              <a:buClrTx/>
              <a:buSzTx/>
            </a:pPr>
            <a:endParaRPr lang="en-IN" sz="1800" dirty="0"/>
          </a:p>
          <a:p>
            <a:pPr marL="0" lvl="0" indent="0" eaLnBrk="0" fontAlgn="base" hangingPunct="0">
              <a:lnSpc>
                <a:spcPct val="100000"/>
              </a:lnSpc>
              <a:spcBef>
                <a:spcPct val="0"/>
              </a:spcBef>
              <a:spcAft>
                <a:spcPct val="0"/>
              </a:spcAft>
              <a:buClrTx/>
              <a:buSzTx/>
              <a:buNone/>
            </a:pPr>
            <a:endParaRPr lang="en-IN" sz="1800" dirty="0"/>
          </a:p>
          <a:p>
            <a:pPr marL="0" lvl="0" indent="0" eaLnBrk="0" fontAlgn="base" hangingPunct="0">
              <a:lnSpc>
                <a:spcPct val="100000"/>
              </a:lnSpc>
              <a:spcBef>
                <a:spcPct val="0"/>
              </a:spcBef>
              <a:spcAft>
                <a:spcPct val="0"/>
              </a:spcAft>
              <a:buClrTx/>
              <a:buSzTx/>
              <a:buNone/>
            </a:pPr>
            <a:endParaRPr lang="en-IN" sz="1800" dirty="0"/>
          </a:p>
          <a:p>
            <a:pPr marL="0" lvl="0" indent="0" eaLnBrk="0" fontAlgn="base" hangingPunct="0">
              <a:lnSpc>
                <a:spcPct val="100000"/>
              </a:lnSpc>
              <a:spcBef>
                <a:spcPct val="0"/>
              </a:spcBef>
              <a:spcAft>
                <a:spcPct val="0"/>
              </a:spcAft>
              <a:buClrTx/>
              <a:buSzTx/>
              <a:buNone/>
            </a:pPr>
            <a:r>
              <a:rPr lang="en-IN" sz="1800" dirty="0"/>
              <a:t>    </a:t>
            </a:r>
          </a:p>
          <a:p>
            <a:pPr marL="0" lvl="0" indent="0" eaLnBrk="0" fontAlgn="base" hangingPunct="0">
              <a:lnSpc>
                <a:spcPct val="100000"/>
              </a:lnSpc>
              <a:spcBef>
                <a:spcPct val="0"/>
              </a:spcBef>
              <a:spcAft>
                <a:spcPct val="0"/>
              </a:spcAft>
              <a:buClrTx/>
              <a:buSzTx/>
              <a:buNone/>
            </a:pPr>
            <a:r>
              <a:rPr kumimoji="0" lang="en-IN" altLang="en-US" sz="1800" b="0" i="0" u="none" strike="noStrike" cap="none" normalizeH="0" baseline="0" dirty="0">
                <a:ln>
                  <a:noFill/>
                </a:ln>
                <a:solidFill>
                  <a:schemeClr val="tx1"/>
                </a:solidFill>
                <a:effectLst/>
                <a:latin typeface="Arial" panose="020B0604020202020204" pitchFamily="34" charset="0"/>
              </a:rPr>
              <a:t>    </a:t>
            </a:r>
          </a:p>
          <a:p>
            <a:pPr marL="0" indent="0" eaLnBrk="0" fontAlgn="base" hangingPunct="0">
              <a:lnSpc>
                <a:spcPct val="100000"/>
              </a:lnSpc>
              <a:spcBef>
                <a:spcPct val="0"/>
              </a:spcBef>
              <a:spcAft>
                <a:spcPct val="0"/>
              </a:spcAft>
              <a:buClrTx/>
              <a:buSzTx/>
              <a:buNone/>
            </a:pPr>
            <a:endParaRPr lang="en-IN"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3B35BA86-92E4-4ACC-3FA4-395804478377}"/>
              </a:ext>
            </a:extLst>
          </p:cNvPr>
          <p:cNvSpPr txBox="1">
            <a:spLocks noChangeArrowheads="1"/>
          </p:cNvSpPr>
          <p:nvPr/>
        </p:nvSpPr>
        <p:spPr bwMode="auto">
          <a:xfrm>
            <a:off x="706120" y="5683321"/>
            <a:ext cx="300082" cy="469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non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2422B817-CAE5-9068-BFE5-117196ACB1B5}"/>
              </a:ext>
            </a:extLst>
          </p:cNvPr>
          <p:cNvSpPr>
            <a:spLocks noChangeArrowheads="1"/>
          </p:cNvSpPr>
          <p:nvPr/>
        </p:nvSpPr>
        <p:spPr bwMode="auto">
          <a:xfrm>
            <a:off x="838200" y="1138312"/>
            <a:ext cx="6832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t>Annual mean temperature declined by −0.040°C/year</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t>Maximum temperature declined by −0.053°C/year</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t>Rainfall increased by +8.2 mm/year</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Highest rainfall in 2023</a:t>
            </a:r>
          </a:p>
          <a:p>
            <a:pPr lvl="0" eaLnBrk="0" fontAlgn="base" hangingPunct="0">
              <a:spcBef>
                <a:spcPct val="0"/>
              </a:spcBef>
              <a:spcAft>
                <a:spcPct val="0"/>
              </a:spcAft>
              <a:buClr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2000" dirty="0"/>
              <a:t>Winter cooling observed</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D80B03DD-06AA-0568-B729-D3472289E4A8}"/>
              </a:ext>
            </a:extLst>
          </p:cNvPr>
          <p:cNvSpPr>
            <a:spLocks noChangeArrowheads="1"/>
          </p:cNvSpPr>
          <p:nvPr/>
        </p:nvSpPr>
        <p:spPr bwMode="auto">
          <a:xfrm>
            <a:off x="0"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19">
            <a:extLst>
              <a:ext uri="{FF2B5EF4-FFF2-40B4-BE49-F238E27FC236}">
                <a16:creationId xmlns:a16="http://schemas.microsoft.com/office/drawing/2014/main" id="{B41BCF0D-235A-D206-D09A-1D03E27B86DE}"/>
              </a:ext>
            </a:extLst>
          </p:cNvPr>
          <p:cNvSpPr>
            <a:spLocks noChangeArrowheads="1"/>
          </p:cNvSpPr>
          <p:nvPr/>
        </p:nvSpPr>
        <p:spPr bwMode="auto">
          <a:xfrm>
            <a:off x="0" y="-3927916"/>
            <a:ext cx="7951808"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29" name="Picture 28">
            <a:extLst>
              <a:ext uri="{FF2B5EF4-FFF2-40B4-BE49-F238E27FC236}">
                <a16:creationId xmlns:a16="http://schemas.microsoft.com/office/drawing/2014/main" id="{3B00DB59-E274-73D1-D8EB-5876BF69362B}"/>
              </a:ext>
            </a:extLst>
          </p:cNvPr>
          <p:cNvPicPr>
            <a:picLocks noChangeAspect="1"/>
          </p:cNvPicPr>
          <p:nvPr/>
        </p:nvPicPr>
        <p:blipFill>
          <a:blip r:embed="rId3"/>
          <a:stretch>
            <a:fillRect/>
          </a:stretch>
        </p:blipFill>
        <p:spPr>
          <a:xfrm>
            <a:off x="6898511" y="1875099"/>
            <a:ext cx="4728149" cy="41300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22"/>
          <p:cNvSpPr txBox="1">
            <a:spLocks noGrp="1"/>
          </p:cNvSpPr>
          <p:nvPr>
            <p:ph type="body" idx="1"/>
          </p:nvPr>
        </p:nvSpPr>
        <p:spPr>
          <a:xfrm>
            <a:off x="685800" y="1077277"/>
            <a:ext cx="10515600" cy="5644197"/>
          </a:xfrm>
          <a:prstGeom prst="rect">
            <a:avLst/>
          </a:prstGeom>
          <a:noFill/>
          <a:ln>
            <a:noFill/>
          </a:ln>
        </p:spPr>
        <p:txBody>
          <a:bodyPr spcFirstLastPara="1" wrap="square" lIns="91425" tIns="45700" rIns="91425" bIns="45700" anchor="t" anchorCtr="0">
            <a:normAutofit/>
          </a:bodyPr>
          <a:lstStyle/>
          <a:p>
            <a:pPr marL="114300" indent="0">
              <a:buNone/>
            </a:pPr>
            <a:r>
              <a:rPr lang="en-US" sz="2600" b="1" dirty="0">
                <a:latin typeface="Calibri" panose="020F0502020204030204" pitchFamily="34" charset="0"/>
                <a:ea typeface="Calibri" panose="020F0502020204030204" pitchFamily="34" charset="0"/>
                <a:cs typeface="Calibri" panose="020F0502020204030204" pitchFamily="34" charset="0"/>
              </a:rPr>
              <a:t>Advanced Enhancements:</a:t>
            </a:r>
          </a:p>
          <a:p>
            <a:r>
              <a:rPr lang="en-US" sz="2000" dirty="0"/>
              <a:t>Use AI/ML models for climate forecasting</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t>Predict temperature and rainfall till 2050</a:t>
            </a:r>
          </a:p>
          <a:p>
            <a:r>
              <a:rPr lang="en-US" sz="2000" dirty="0"/>
              <a:t>Detect extreme weather events early</a:t>
            </a:r>
          </a:p>
          <a:p>
            <a:r>
              <a:rPr lang="it-IT" sz="2000" dirty="0"/>
              <a:t>Improve data accuracy with satellite data </a:t>
            </a:r>
          </a:p>
          <a:p>
            <a:pPr marL="114300" indent="0">
              <a:buNone/>
            </a:pPr>
            <a:r>
              <a:rPr lang="en-US" sz="2600" b="1" dirty="0">
                <a:latin typeface="Calibri" panose="020F0502020204030204" pitchFamily="34" charset="0"/>
                <a:ea typeface="Calibri" panose="020F0502020204030204" pitchFamily="34" charset="0"/>
                <a:cs typeface="Calibri" panose="020F0502020204030204" pitchFamily="34" charset="0"/>
              </a:rPr>
              <a:t>Industry Impact:</a:t>
            </a:r>
          </a:p>
          <a:p>
            <a:r>
              <a:rPr lang="en-US" sz="2000" dirty="0"/>
              <a:t>Helpful for farmers and irrigation planning</a:t>
            </a:r>
          </a:p>
          <a:p>
            <a:r>
              <a:rPr lang="en-IN" sz="2000" dirty="0"/>
              <a:t>Supports disaster management</a:t>
            </a:r>
          </a:p>
          <a:p>
            <a:r>
              <a:rPr lang="en-IN" sz="2000" dirty="0"/>
              <a:t>Supports disaster management</a:t>
            </a:r>
            <a:endParaRPr lang="en-IN" sz="2000" b="1" dirty="0">
              <a:latin typeface="Calibri" panose="020F0502020204030204" pitchFamily="34" charset="0"/>
              <a:ea typeface="Calibri" panose="020F0502020204030204" pitchFamily="34" charset="0"/>
              <a:cs typeface="Calibri" panose="020F0502020204030204" pitchFamily="34" charset="0"/>
            </a:endParaRPr>
          </a:p>
          <a:p>
            <a:r>
              <a:rPr lang="en-US" sz="2600" b="1" dirty="0">
                <a:latin typeface="Calibri" panose="020F0502020204030204" pitchFamily="34" charset="0"/>
                <a:ea typeface="Calibri" panose="020F0502020204030204" pitchFamily="34" charset="0"/>
                <a:cs typeface="Calibri" panose="020F0502020204030204" pitchFamily="34" charset="0"/>
              </a:rPr>
              <a:t>Technological Expansion:</a:t>
            </a:r>
          </a:p>
          <a:p>
            <a:r>
              <a:rPr lang="en-IN" sz="2000" dirty="0"/>
              <a:t>Real-time climate monitoring system</a:t>
            </a:r>
          </a:p>
          <a:p>
            <a:r>
              <a:rPr lang="en-US" sz="2000" dirty="0"/>
              <a:t>Web/mobile dashboard for weather trends</a:t>
            </a:r>
          </a:p>
          <a:p>
            <a:r>
              <a:rPr lang="en-US" sz="2000" dirty="0"/>
              <a:t>Integration with IoT weather sensors</a:t>
            </a:r>
          </a:p>
        </p:txBody>
      </p:sp>
      <p:sp>
        <p:nvSpPr>
          <p:cNvPr id="162" name="Google Shape;16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8</a:t>
            </a:fld>
            <a:endParaRPr>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9DD79E4F-DC02-6BC9-0DA0-BD34DF505858}"/>
              </a:ext>
            </a:extLst>
          </p:cNvPr>
          <p:cNvSpPr>
            <a:spLocks noChangeArrowheads="1"/>
          </p:cNvSpPr>
          <p:nvPr/>
        </p:nvSpPr>
        <p:spPr bwMode="auto">
          <a:xfrm>
            <a:off x="0"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BEE49968-621D-423D-D627-E44257A877E7}"/>
              </a:ext>
            </a:extLst>
          </p:cNvPr>
          <p:cNvSpPr txBox="1"/>
          <p:nvPr/>
        </p:nvSpPr>
        <p:spPr>
          <a:xfrm>
            <a:off x="838200" y="307837"/>
            <a:ext cx="6096000" cy="769441"/>
          </a:xfrm>
          <a:prstGeom prst="rect">
            <a:avLst/>
          </a:prstGeom>
          <a:noFill/>
        </p:spPr>
        <p:txBody>
          <a:bodyPr wrap="square">
            <a:spAutoFit/>
          </a:bodyPr>
          <a:lstStyle/>
          <a:p>
            <a:r>
              <a:rPr lang="en-US" sz="4400" dirty="0">
                <a:latin typeface="Calibri" panose="020F0502020204030204" pitchFamily="34" charset="0"/>
                <a:ea typeface="Calibri" panose="020F0502020204030204" pitchFamily="34" charset="0"/>
                <a:cs typeface="Calibri" panose="020F0502020204030204" pitchFamily="34" charset="0"/>
                <a:sym typeface="Times New Roman"/>
              </a:rPr>
              <a:t>Future Scope</a:t>
            </a:r>
            <a:endParaRPr lang="en-IN" sz="4400"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8A494D69-3CCA-6593-1598-AD5AB00E01F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D04EA641-0BF1-C72D-3815-278E72235642}"/>
              </a:ext>
            </a:extLst>
          </p:cNvPr>
          <p:cNvSpPr>
            <a:spLocks noChangeArrowheads="1"/>
          </p:cNvSpPr>
          <p:nvPr/>
        </p:nvSpPr>
        <p:spPr bwMode="auto">
          <a:xfrm>
            <a:off x="-3136900" y="272483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3260549F-9DA6-CE26-E101-F5630DA4D8B8}"/>
              </a:ext>
            </a:extLst>
          </p:cNvPr>
          <p:cNvSpPr>
            <a:spLocks noChangeArrowheads="1"/>
          </p:cNvSpPr>
          <p:nvPr/>
        </p:nvSpPr>
        <p:spPr bwMode="auto">
          <a:xfrm>
            <a:off x="-3771900" y="184853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774F6-BEF4-FB1B-2138-BDF40F44E59C}"/>
              </a:ext>
            </a:extLst>
          </p:cNvPr>
          <p:cNvSpPr>
            <a:spLocks noGrp="1"/>
          </p:cNvSpPr>
          <p:nvPr>
            <p:ph type="ctrTitle"/>
          </p:nvPr>
        </p:nvSpPr>
        <p:spPr>
          <a:xfrm>
            <a:off x="92597" y="219919"/>
            <a:ext cx="8264325" cy="856527"/>
          </a:xfrm>
        </p:spPr>
        <p:txBody>
          <a:bodyPr>
            <a:normAutofit fontScale="90000"/>
          </a:bodyPr>
          <a:lstStyle/>
          <a:p>
            <a:r>
              <a:rPr lang="en-IN" dirty="0"/>
              <a:t>Graphs and Analysis</a:t>
            </a:r>
          </a:p>
        </p:txBody>
      </p:sp>
      <p:sp>
        <p:nvSpPr>
          <p:cNvPr id="4" name="Slide Number Placeholder 3">
            <a:extLst>
              <a:ext uri="{FF2B5EF4-FFF2-40B4-BE49-F238E27FC236}">
                <a16:creationId xmlns:a16="http://schemas.microsoft.com/office/drawing/2014/main" id="{099EF1B6-A3EC-CD3A-2492-636686D3A8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6" name="Picture 5">
            <a:extLst>
              <a:ext uri="{FF2B5EF4-FFF2-40B4-BE49-F238E27FC236}">
                <a16:creationId xmlns:a16="http://schemas.microsoft.com/office/drawing/2014/main" id="{AFF406C3-D8CC-D1C9-58B8-82758AB5FC49}"/>
              </a:ext>
            </a:extLst>
          </p:cNvPr>
          <p:cNvPicPr>
            <a:picLocks noChangeAspect="1"/>
          </p:cNvPicPr>
          <p:nvPr/>
        </p:nvPicPr>
        <p:blipFill>
          <a:blip r:embed="rId2"/>
          <a:stretch>
            <a:fillRect/>
          </a:stretch>
        </p:blipFill>
        <p:spPr>
          <a:xfrm>
            <a:off x="740780" y="1076446"/>
            <a:ext cx="5355220" cy="4815068"/>
          </a:xfrm>
          <a:prstGeom prst="rect">
            <a:avLst/>
          </a:prstGeom>
        </p:spPr>
      </p:pic>
      <p:pic>
        <p:nvPicPr>
          <p:cNvPr id="8" name="Picture 7">
            <a:extLst>
              <a:ext uri="{FF2B5EF4-FFF2-40B4-BE49-F238E27FC236}">
                <a16:creationId xmlns:a16="http://schemas.microsoft.com/office/drawing/2014/main" id="{01C297C2-7435-329C-720B-53B0A40CC86E}"/>
              </a:ext>
            </a:extLst>
          </p:cNvPr>
          <p:cNvPicPr>
            <a:picLocks noChangeAspect="1"/>
          </p:cNvPicPr>
          <p:nvPr/>
        </p:nvPicPr>
        <p:blipFill>
          <a:blip r:embed="rId3"/>
          <a:stretch>
            <a:fillRect/>
          </a:stretch>
        </p:blipFill>
        <p:spPr>
          <a:xfrm>
            <a:off x="6096000" y="1020882"/>
            <a:ext cx="5733327" cy="5159999"/>
          </a:xfrm>
          <a:prstGeom prst="rect">
            <a:avLst/>
          </a:prstGeom>
        </p:spPr>
      </p:pic>
    </p:spTree>
    <p:extLst>
      <p:ext uri="{BB962C8B-B14F-4D97-AF65-F5344CB8AC3E}">
        <p14:creationId xmlns:p14="http://schemas.microsoft.com/office/powerpoint/2010/main" val="1148134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a:ea typeface="Times New Roman"/>
                <a:cs typeface="Times New Roman"/>
                <a:sym typeface="Times New Roman"/>
              </a:rPr>
              <a:t>Conclusion</a:t>
            </a:r>
            <a:endParaRPr dirty="0">
              <a:latin typeface="Times New Roman"/>
              <a:ea typeface="Times New Roman"/>
              <a:cs typeface="Times New Roman"/>
              <a:sym typeface="Times New Roman"/>
            </a:endParaRPr>
          </a:p>
        </p:txBody>
      </p:sp>
      <p:sp>
        <p:nvSpPr>
          <p:cNvPr id="154" name="Google Shape;154;p21"/>
          <p:cNvSpPr txBox="1">
            <a:spLocks noGrp="1"/>
          </p:cNvSpPr>
          <p:nvPr>
            <p:ph type="body" idx="1"/>
          </p:nvPr>
        </p:nvSpPr>
        <p:spPr>
          <a:xfrm>
            <a:off x="838200" y="1508125"/>
            <a:ext cx="10515600" cy="4351338"/>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sz="2400" dirty="0"/>
              <a:t>This project successfully analyzed 35 years (1990–2024) of climate data for the Punjab region using statistical methods and data visualization.</a:t>
            </a:r>
          </a:p>
          <a:p>
            <a:pPr marL="114300" indent="0">
              <a:buNone/>
            </a:pPr>
            <a:r>
              <a:rPr lang="en-US" sz="2400" dirty="0"/>
              <a:t>The study found that:</a:t>
            </a:r>
          </a:p>
          <a:p>
            <a:r>
              <a:rPr lang="en-US" sz="2400" dirty="0"/>
              <a:t>Annual mean temperature showed a declining trend </a:t>
            </a:r>
          </a:p>
          <a:p>
            <a:r>
              <a:rPr lang="en-US" sz="2400" dirty="0"/>
              <a:t>Maximum temperature also decreased </a:t>
            </a:r>
          </a:p>
          <a:p>
            <a:r>
              <a:rPr lang="en-US" sz="2400" dirty="0"/>
              <a:t>Rainfall increased over the years </a:t>
            </a:r>
          </a:p>
          <a:p>
            <a:r>
              <a:rPr lang="en-US" sz="2400" dirty="0"/>
              <a:t>Winter cooling was observed </a:t>
            </a:r>
          </a:p>
          <a:p>
            <a:r>
              <a:rPr lang="en-US" sz="2400" dirty="0"/>
              <a:t>Regional climate patterns changed significantly </a:t>
            </a:r>
          </a:p>
          <a:p>
            <a:pPr marL="114300" indent="0">
              <a:buNone/>
            </a:pPr>
            <a:r>
              <a:rPr lang="en-US" sz="2400" dirty="0"/>
              <a:t>These findings can help in agriculture planning, water resource management, and environmental decision-making.</a:t>
            </a:r>
          </a:p>
        </p:txBody>
      </p:sp>
      <p:sp>
        <p:nvSpPr>
          <p:cNvPr id="155" name="Google Shape;15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10</a:t>
            </a:fld>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635</Words>
  <Application>Microsoft Office PowerPoint</Application>
  <PresentationFormat>Widescreen</PresentationFormat>
  <Paragraphs>156</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1_Office Theme</vt:lpstr>
      <vt:lpstr>PowerPoint Presentation</vt:lpstr>
      <vt:lpstr>Outline</vt:lpstr>
      <vt:lpstr>Introduction to Project</vt:lpstr>
      <vt:lpstr>Problem Formulation</vt:lpstr>
      <vt:lpstr>Objectives of the Work</vt:lpstr>
      <vt:lpstr>Methodology used</vt:lpstr>
      <vt:lpstr>Results and Outputs</vt:lpstr>
      <vt:lpstr>PowerPoint Presentation</vt:lpstr>
      <vt:lpstr>Graphs and Analysis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BEAST</dc:creator>
  <cp:lastModifiedBy>satyam singh</cp:lastModifiedBy>
  <cp:revision>5</cp:revision>
  <dcterms:modified xsi:type="dcterms:W3CDTF">2026-04-29T19:17:20Z</dcterms:modified>
</cp:coreProperties>
</file>